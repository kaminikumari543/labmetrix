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C720C05-9975-441F-95B8-79A473AC1200}" type="datetimeFigureOut">
              <a:rPr lang="en-US" smtClean="0"/>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2697403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720C05-9975-441F-95B8-79A473AC1200}" type="datetimeFigureOut">
              <a:rPr lang="en-US" smtClean="0"/>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743674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720C05-9975-441F-95B8-79A473AC1200}" type="datetimeFigureOut">
              <a:rPr lang="en-US" smtClean="0"/>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2228585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C720C05-9975-441F-95B8-79A473AC1200}" type="datetimeFigureOut">
              <a:rPr lang="en-US" smtClean="0"/>
              <a:t>7/4/2025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1425268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C720C05-9975-441F-95B8-79A473AC1200}" type="datetimeFigureOut">
              <a:rPr lang="en-US" smtClean="0"/>
              <a:t>7/4/2025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337640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C720C05-9975-441F-95B8-79A473AC1200}" type="datetimeFigureOut">
              <a:rPr lang="en-US" smtClean="0"/>
              <a:t>7/4/2025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2289310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20C05-9975-441F-95B8-79A473AC1200}" type="datetimeFigureOut">
              <a:rPr lang="en-US" smtClean="0"/>
              <a:t>7/4/2025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75170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720C05-9975-441F-95B8-79A473AC1200}" type="datetimeFigureOut">
              <a:rPr lang="en-US" smtClean="0"/>
              <a:t>7/4/2025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2479033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720C05-9975-441F-95B8-79A473AC1200}" type="datetimeFigureOut">
              <a:rPr lang="en-US" smtClean="0"/>
              <a:t>7/4/2025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2489835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720C05-9975-441F-95B8-79A473AC1200}" type="datetimeFigureOut">
              <a:rPr lang="en-US" smtClean="0"/>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2582261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720C05-9975-441F-95B8-79A473AC1200}" type="datetimeFigureOut">
              <a:rPr lang="en-US" smtClean="0"/>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FCB390-016D-455B-B570-270F22A7D9EE}" type="slidenum">
              <a:rPr lang="en-US" smtClean="0"/>
              <a:t>‹#›</a:t>
            </a:fld>
            <a:endParaRPr lang="en-US"/>
          </a:p>
        </p:txBody>
      </p:sp>
    </p:spTree>
    <p:extLst>
      <p:ext uri="{BB962C8B-B14F-4D97-AF65-F5344CB8AC3E}">
        <p14:creationId xmlns:p14="http://schemas.microsoft.com/office/powerpoint/2010/main" val="169712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720C05-9975-441F-95B8-79A473AC1200}" type="datetimeFigureOut">
              <a:rPr lang="en-US" smtClean="0"/>
              <a:t>7/4/2025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FCB390-016D-455B-B570-270F22A7D9EE}" type="slidenum">
              <a:rPr lang="en-US" smtClean="0"/>
              <a:t>‹#›</a:t>
            </a:fld>
            <a:endParaRPr lang="en-US"/>
          </a:p>
        </p:txBody>
      </p:sp>
    </p:spTree>
    <p:extLst>
      <p:ext uri="{BB962C8B-B14F-4D97-AF65-F5344CB8AC3E}">
        <p14:creationId xmlns:p14="http://schemas.microsoft.com/office/powerpoint/2010/main" val="4248082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rgbClr val="FFC000"/>
          </a:solidFill>
        </p:spPr>
        <p:txBody>
          <a:bodyPr>
            <a:normAutofit/>
          </a:bodyPr>
          <a:lstStyle/>
          <a:p>
            <a:r>
              <a:rPr lang="en-US" sz="4800" dirty="0" smtClean="0"/>
              <a:t>DUBAI HOUSE PRICING</a:t>
            </a:r>
            <a:endParaRPr lang="en-US" sz="4800"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277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Kamini\guide\Dubai_hous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81" y="914400"/>
            <a:ext cx="8788519" cy="5059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20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Kamini\guide\Dubai_hous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230" y="914399"/>
            <a:ext cx="8810370" cy="5046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56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19200" y="1295401"/>
            <a:ext cx="6324600" cy="4801314"/>
          </a:xfrm>
          <a:prstGeom prst="rect">
            <a:avLst/>
          </a:prstGeom>
          <a:solidFill>
            <a:srgbClr val="FFC000"/>
          </a:solidFill>
        </p:spPr>
        <p:txBody>
          <a:bodyPr wrap="square">
            <a:spAutoFit/>
          </a:bodyPr>
          <a:lstStyle/>
          <a:p>
            <a:r>
              <a:rPr lang="en-US" dirty="0" smtClean="0"/>
              <a:t>The housing price dataset offers a detailed overview of residential property listings, capturing vital information such as price, square footage, number of bedrooms and bathrooms, neighborhood, and construction year. To ensure the reliability and accuracy of analysis, the dataset underwent essential data cleaning and transformation steps using Power BI</a:t>
            </a:r>
          </a:p>
          <a:p>
            <a:r>
              <a:rPr lang="en-US" dirty="0" smtClean="0"/>
              <a:t>In the cleaning phase, rows with invalid entries — such as zero or negative values in Price, </a:t>
            </a:r>
            <a:r>
              <a:rPr lang="en-US" dirty="0" err="1" smtClean="0"/>
              <a:t>SquareFeet</a:t>
            </a:r>
            <a:r>
              <a:rPr lang="en-US" dirty="0" smtClean="0"/>
              <a:t>, or </a:t>
            </a:r>
            <a:r>
              <a:rPr lang="en-US" dirty="0" err="1" smtClean="0"/>
              <a:t>YearBuilt</a:t>
            </a:r>
            <a:r>
              <a:rPr lang="en-US" dirty="0" smtClean="0"/>
              <a:t> before 1800 — were removed. Duplicate records were eliminated, and data types were standardized. Numerical values like Price, </a:t>
            </a:r>
            <a:r>
              <a:rPr lang="en-US" dirty="0" err="1" smtClean="0"/>
              <a:t>SquareFeet</a:t>
            </a:r>
            <a:r>
              <a:rPr lang="en-US" dirty="0" smtClean="0"/>
              <a:t>, Bedrooms, and Bathrooms were cast as numeric types, while categorical attributes such as Neighborhood and </a:t>
            </a:r>
            <a:r>
              <a:rPr lang="en-US" dirty="0" err="1" smtClean="0"/>
              <a:t>ListingCategory</a:t>
            </a:r>
            <a:r>
              <a:rPr lang="en-US" dirty="0" smtClean="0"/>
              <a:t> were treated as text for grouping and segmentation.</a:t>
            </a:r>
          </a:p>
          <a:p>
            <a:r>
              <a:rPr lang="en-US" dirty="0" smtClean="0"/>
              <a:t>New calculated columns were created to enrich the dataset. </a:t>
            </a:r>
            <a:r>
              <a:rPr lang="en-US" dirty="0" err="1" smtClean="0"/>
              <a:t>price_per_sqft</a:t>
            </a:r>
            <a:r>
              <a:rPr lang="en-US" dirty="0" smtClean="0"/>
              <a:t> was computed by dividing the property’s price by its square footage, allowing users to compare pricing regardless of property size. </a:t>
            </a:r>
            <a:endParaRPr lang="en-US" dirty="0"/>
          </a:p>
        </p:txBody>
      </p:sp>
    </p:spTree>
    <p:extLst>
      <p:ext uri="{BB962C8B-B14F-4D97-AF65-F5344CB8AC3E}">
        <p14:creationId xmlns:p14="http://schemas.microsoft.com/office/powerpoint/2010/main" val="7619982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14400" y="609600"/>
            <a:ext cx="5943600" cy="5355312"/>
          </a:xfrm>
          <a:prstGeom prst="rect">
            <a:avLst/>
          </a:prstGeom>
          <a:solidFill>
            <a:srgbClr val="FFC000"/>
          </a:solidFill>
        </p:spPr>
        <p:txBody>
          <a:bodyPr wrap="square">
            <a:spAutoFit/>
          </a:bodyPr>
          <a:lstStyle/>
          <a:p>
            <a:r>
              <a:rPr lang="en-US" dirty="0" smtClean="0"/>
              <a:t>A </a:t>
            </a:r>
            <a:r>
              <a:rPr lang="en-US" dirty="0" err="1" smtClean="0"/>
              <a:t>property_age</a:t>
            </a:r>
            <a:r>
              <a:rPr lang="en-US" dirty="0" smtClean="0"/>
              <a:t> column, derived from the year 2025 minus the </a:t>
            </a:r>
            <a:r>
              <a:rPr lang="en-US" dirty="0" err="1" smtClean="0"/>
              <a:t>YearBuilt</a:t>
            </a:r>
            <a:r>
              <a:rPr lang="en-US" dirty="0" smtClean="0"/>
              <a:t> value, was added to give insight into the relative age of each home. To segment the market, a </a:t>
            </a:r>
            <a:r>
              <a:rPr lang="en-US" dirty="0" err="1" smtClean="0"/>
              <a:t>listing_category</a:t>
            </a:r>
            <a:r>
              <a:rPr lang="en-US" dirty="0" smtClean="0"/>
              <a:t> column was created using DAX, classifying listings into "Budget", "Mid-Range", and "High-End" based on 33rd and 66th percentiles of price distribution. A separate column for Price Range was also created to support intuitive filtering.</a:t>
            </a:r>
          </a:p>
          <a:p>
            <a:r>
              <a:rPr lang="en-US" dirty="0" smtClean="0"/>
              <a:t>Several key metrics were visualized using KPI cards in Power BI. These include Total Listings, Average Price, Average Price per Square Foot, Most Expensive Property, and Oldest Property. These indicators provide a high-level snapshot of the market.</a:t>
            </a:r>
          </a:p>
          <a:p>
            <a:r>
              <a:rPr lang="en-US" dirty="0" smtClean="0"/>
              <a:t>To explore categorical comparisons, a </a:t>
            </a:r>
            <a:r>
              <a:rPr lang="en-US" b="1" dirty="0" smtClean="0"/>
              <a:t>clustered bar chart</a:t>
            </a:r>
            <a:r>
              <a:rPr lang="en-US" dirty="0" smtClean="0"/>
              <a:t> was used to display the count of listings across neighborhoods, broken down by listing category. This visual effectively reveals the distribution of budget and high-end listings by location. A pie chart highlights the overall distribution of property categories, showing how the market is divided among Budget, Mid-Range, and High-End homes.</a:t>
            </a:r>
            <a:endParaRPr lang="en-US" dirty="0"/>
          </a:p>
        </p:txBody>
      </p:sp>
    </p:spTree>
    <p:extLst>
      <p:ext uri="{BB962C8B-B14F-4D97-AF65-F5344CB8AC3E}">
        <p14:creationId xmlns:p14="http://schemas.microsoft.com/office/powerpoint/2010/main" val="3833184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0" y="762000"/>
            <a:ext cx="7010400" cy="3139321"/>
          </a:xfrm>
          <a:prstGeom prst="rect">
            <a:avLst/>
          </a:prstGeom>
          <a:solidFill>
            <a:srgbClr val="FFC000"/>
          </a:solidFill>
        </p:spPr>
        <p:txBody>
          <a:bodyPr wrap="square">
            <a:spAutoFit/>
          </a:bodyPr>
          <a:lstStyle/>
          <a:p>
            <a:r>
              <a:rPr lang="en-US" dirty="0" smtClean="0"/>
              <a:t>A </a:t>
            </a:r>
            <a:r>
              <a:rPr lang="en-US" b="1" dirty="0" smtClean="0"/>
              <a:t>scatter plot</a:t>
            </a:r>
            <a:r>
              <a:rPr lang="en-US" dirty="0" smtClean="0"/>
              <a:t> was also implemented to study the relationship between square footage and price, with data points colored by listing category. This visual helps detect pricing trends, clusters, and anomalies.</a:t>
            </a:r>
          </a:p>
          <a:p>
            <a:endParaRPr lang="en-US" dirty="0" smtClean="0"/>
          </a:p>
          <a:p>
            <a:r>
              <a:rPr lang="en-US" dirty="0" smtClean="0"/>
              <a:t>In conclusion, </a:t>
            </a:r>
          </a:p>
          <a:p>
            <a:r>
              <a:rPr lang="en-US" dirty="0"/>
              <a:t>T</a:t>
            </a:r>
            <a:r>
              <a:rPr lang="en-US" dirty="0" smtClean="0"/>
              <a:t>he housing dataset, enhanced with calculated fields and visualized through intuitive charts, provides valuable insights into real estate pricing, neighborhood trends, and market segmentation. It serves as a powerful tool for analysts, investors, and decision-makers in the property domain.</a:t>
            </a:r>
          </a:p>
          <a:p>
            <a:endParaRPr lang="en-US" dirty="0"/>
          </a:p>
        </p:txBody>
      </p:sp>
    </p:spTree>
    <p:extLst>
      <p:ext uri="{BB962C8B-B14F-4D97-AF65-F5344CB8AC3E}">
        <p14:creationId xmlns:p14="http://schemas.microsoft.com/office/powerpoint/2010/main" val="37592205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439</Words>
  <Application>Microsoft Office PowerPoint</Application>
  <PresentationFormat>On-screen Show (4:3)</PresentationFormat>
  <Paragraphs>11</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DUBAI HOUSE PRICING</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DUBAI HOUSE PRICING</dc:title>
  <dc:creator>kamini chandra</dc:creator>
  <cp:lastModifiedBy>kamini chandra</cp:lastModifiedBy>
  <cp:revision>2</cp:revision>
  <dcterms:created xsi:type="dcterms:W3CDTF">2025-07-04T18:28:25Z</dcterms:created>
  <dcterms:modified xsi:type="dcterms:W3CDTF">2025-07-04T18:43:39Z</dcterms:modified>
</cp:coreProperties>
</file>