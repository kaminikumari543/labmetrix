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3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1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5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75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72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01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0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3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7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4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54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613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69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431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013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82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00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6BC3CD-F200-4C46-92EB-B28A1B22D88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450318-E535-4A49-9A64-5A200CD1C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9BF5-05AE-AD19-D5D0-FEB58098D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FLY_EMIRATES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0A56-A9B4-BA11-C398-1F5586F28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9" y="3657597"/>
            <a:ext cx="6256730" cy="1004344"/>
          </a:xfrm>
        </p:spPr>
        <p:txBody>
          <a:bodyPr>
            <a:normAutofit/>
          </a:bodyPr>
          <a:lstStyle/>
          <a:p>
            <a:r>
              <a:rPr lang="en-US" sz="36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25312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F563B-B744-6370-77F8-D450C8B3E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243" y="653074"/>
            <a:ext cx="9571553" cy="537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8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075D8-7B85-C0AC-606A-13B900590855}"/>
              </a:ext>
            </a:extLst>
          </p:cNvPr>
          <p:cNvSpPr txBox="1"/>
          <p:nvPr/>
        </p:nvSpPr>
        <p:spPr>
          <a:xfrm>
            <a:off x="1274163" y="1049311"/>
            <a:ext cx="85443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Data Transformation Insight</a:t>
            </a:r>
          </a:p>
          <a:p>
            <a:r>
              <a:rPr lang="en-US" sz="2000" dirty="0"/>
              <a:t>I am attempting to convert individual date/time components (YEAR, MONTH, DAY, SCHEDULED_DEPARTURE) into a proper DATETIME column (FLIGHT_DATETIME). </a:t>
            </a:r>
          </a:p>
          <a:p>
            <a:r>
              <a:rPr lang="en-US" sz="2000" dirty="0"/>
              <a:t>This is crucial for time-series analysis such </a:t>
            </a:r>
            <a:r>
              <a:rPr lang="en-US" sz="2000" dirty="0" err="1"/>
              <a:t>as:Delay</a:t>
            </a:r>
            <a:r>
              <a:rPr lang="en-US" sz="2000" dirty="0"/>
              <a:t> trends over </a:t>
            </a:r>
            <a:r>
              <a:rPr lang="en-US" sz="2000" dirty="0" err="1"/>
              <a:t>timePeak</a:t>
            </a:r>
            <a:r>
              <a:rPr lang="en-US" sz="2000" dirty="0"/>
              <a:t> travel </a:t>
            </a:r>
            <a:r>
              <a:rPr lang="en-US" sz="2000" dirty="0" err="1"/>
              <a:t>hoursFlight</a:t>
            </a:r>
            <a:r>
              <a:rPr lang="en-US" sz="2000" dirty="0"/>
              <a:t> punctuality by time of day</a:t>
            </a:r>
          </a:p>
        </p:txBody>
      </p:sp>
    </p:spTree>
    <p:extLst>
      <p:ext uri="{BB962C8B-B14F-4D97-AF65-F5344CB8AC3E}">
        <p14:creationId xmlns:p14="http://schemas.microsoft.com/office/powerpoint/2010/main" val="259232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B6986-123B-AD31-7E92-FA80D987A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21" y="621877"/>
            <a:ext cx="10652925" cy="605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0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C0C5A1-38DC-975F-328B-0610170CC553}"/>
              </a:ext>
            </a:extLst>
          </p:cNvPr>
          <p:cNvSpPr txBox="1"/>
          <p:nvPr/>
        </p:nvSpPr>
        <p:spPr>
          <a:xfrm>
            <a:off x="1349115" y="1049311"/>
            <a:ext cx="7809875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/>
              <a:t>Insights from the Query and Data:</a:t>
            </a:r>
          </a:p>
          <a:p>
            <a:r>
              <a:rPr lang="en-US" sz="2000" dirty="0"/>
              <a:t>1. Data Cleaning in Query</a:t>
            </a:r>
          </a:p>
          <a:p>
            <a:r>
              <a:rPr lang="en-US" sz="2000" dirty="0"/>
              <a:t>NULL handling is being done using ISNULL() or similar functions (depending on the SQL dialect).</a:t>
            </a:r>
          </a:p>
          <a:p>
            <a:r>
              <a:rPr lang="en-US" sz="2000" dirty="0"/>
              <a:t>Missing values in DEPARTURE_DELAY, ARRIVAL_DELAY, and CANCELLED fields are replaced with 0, indicating an effort to standardize missing data.</a:t>
            </a:r>
          </a:p>
          <a:p>
            <a:r>
              <a:rPr lang="en-US" sz="2000" dirty="0"/>
              <a:t>2. Cancellation Reasons Categorized</a:t>
            </a:r>
          </a:p>
          <a:p>
            <a:r>
              <a:rPr lang="en-US" sz="2000" dirty="0"/>
              <a:t>Cancellation reasons are decoded using a CASE statement:</a:t>
            </a:r>
          </a:p>
          <a:p>
            <a:r>
              <a:rPr lang="en-US" sz="2000" dirty="0"/>
              <a:t>'A' → Airline Issue</a:t>
            </a:r>
          </a:p>
          <a:p>
            <a:r>
              <a:rPr lang="en-US" sz="2000" dirty="0"/>
              <a:t>'B' → Weather</a:t>
            </a:r>
          </a:p>
          <a:p>
            <a:r>
              <a:rPr lang="en-US" sz="2000" dirty="0"/>
              <a:t>'C' → National Air System</a:t>
            </a:r>
          </a:p>
          <a:p>
            <a:r>
              <a:rPr lang="en-US" sz="2000" dirty="0"/>
              <a:t>This improves data readability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20305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3B8FC-3936-3067-E71B-82F5C504E860}"/>
              </a:ext>
            </a:extLst>
          </p:cNvPr>
          <p:cNvSpPr txBox="1"/>
          <p:nvPr/>
        </p:nvSpPr>
        <p:spPr>
          <a:xfrm>
            <a:off x="1139252" y="889843"/>
            <a:ext cx="95787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Potential Analytical Insights</a:t>
            </a:r>
          </a:p>
          <a:p>
            <a:r>
              <a:rPr lang="en-US" dirty="0"/>
              <a:t>1. Airlines Performance</a:t>
            </a:r>
          </a:p>
          <a:p>
            <a:r>
              <a:rPr lang="en-US" dirty="0"/>
              <a:t>You can analyze:</a:t>
            </a:r>
          </a:p>
          <a:p>
            <a:endParaRPr lang="en-US" dirty="0"/>
          </a:p>
          <a:p>
            <a:r>
              <a:rPr lang="en-US" dirty="0"/>
              <a:t>Which airline had most delays or cancellations.</a:t>
            </a:r>
          </a:p>
          <a:p>
            <a:r>
              <a:rPr lang="en-US" dirty="0"/>
              <a:t>Average delay per airline.</a:t>
            </a:r>
          </a:p>
          <a:p>
            <a:r>
              <a:rPr lang="en-US" dirty="0"/>
              <a:t>2. Airport Efficiency</a:t>
            </a:r>
          </a:p>
          <a:p>
            <a:r>
              <a:rPr lang="en-US" dirty="0"/>
              <a:t>From the ORIGIN_AIRPORT and DESTINATION_AIRPORT, you can analyze:</a:t>
            </a:r>
          </a:p>
          <a:p>
            <a:endParaRPr lang="en-US" dirty="0"/>
          </a:p>
          <a:p>
            <a:r>
              <a:rPr lang="en-US" dirty="0"/>
              <a:t>Airports with frequent delays or cancellations.</a:t>
            </a:r>
          </a:p>
          <a:p>
            <a:r>
              <a:rPr lang="en-US" dirty="0"/>
              <a:t>Best-performing airport routes.</a:t>
            </a:r>
          </a:p>
          <a:p>
            <a:r>
              <a:rPr lang="en-US" dirty="0"/>
              <a:t>3. Common Delay Reasons</a:t>
            </a:r>
          </a:p>
          <a:p>
            <a:r>
              <a:rPr lang="en-US" dirty="0"/>
              <a:t>With cleaned CLEANED_DEPARTURE_DELAY and CLEANED_ARRIVAL_DELAY:</a:t>
            </a:r>
          </a:p>
          <a:p>
            <a:endParaRPr lang="en-US" dirty="0"/>
          </a:p>
          <a:p>
            <a:r>
              <a:rPr lang="en-US" dirty="0"/>
              <a:t>Identify the main cause of delays.</a:t>
            </a:r>
          </a:p>
          <a:p>
            <a:r>
              <a:rPr lang="en-US" dirty="0"/>
              <a:t>Compare weather-related vs. airline-related issues.</a:t>
            </a:r>
          </a:p>
          <a:p>
            <a:r>
              <a:rPr lang="en-US" dirty="0"/>
              <a:t>4. Time &amp; Seasonal Trends</a:t>
            </a:r>
          </a:p>
          <a:p>
            <a:r>
              <a:rPr lang="en-US" dirty="0"/>
              <a:t>Using YEAR, MONTH, and DAY_OF_WEEK:</a:t>
            </a:r>
          </a:p>
        </p:txBody>
      </p:sp>
    </p:spTree>
    <p:extLst>
      <p:ext uri="{BB962C8B-B14F-4D97-AF65-F5344CB8AC3E}">
        <p14:creationId xmlns:p14="http://schemas.microsoft.com/office/powerpoint/2010/main" val="141213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7A56D-A2A3-19AA-7194-C019358FA79A}"/>
              </a:ext>
            </a:extLst>
          </p:cNvPr>
          <p:cNvSpPr txBox="1"/>
          <p:nvPr/>
        </p:nvSpPr>
        <p:spPr>
          <a:xfrm>
            <a:off x="1079292" y="1124263"/>
            <a:ext cx="80796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Detect peak delay months or days with fewer cancellations.</a:t>
            </a:r>
          </a:p>
          <a:p>
            <a:r>
              <a:rPr lang="en-US" sz="2000" dirty="0"/>
              <a:t> Business Impact Insights</a:t>
            </a:r>
          </a:p>
          <a:p>
            <a:r>
              <a:rPr lang="en-US" sz="2000" dirty="0"/>
              <a:t>Operational Planning: Airlines can improve scheduling and staffing based on delay trends.</a:t>
            </a:r>
          </a:p>
          <a:p>
            <a:r>
              <a:rPr lang="en-US" sz="2000" dirty="0"/>
              <a:t>Customer Satisfaction: Reducing delays caused by preventable airline issues.</a:t>
            </a:r>
          </a:p>
          <a:p>
            <a:r>
              <a:rPr lang="en-US" sz="2000" dirty="0"/>
              <a:t>Policy Making: Airports and authorities can take steps for weather resilience or infrastructure upgrades where national air system issues are high.</a:t>
            </a:r>
          </a:p>
        </p:txBody>
      </p:sp>
    </p:spTree>
    <p:extLst>
      <p:ext uri="{BB962C8B-B14F-4D97-AF65-F5344CB8AC3E}">
        <p14:creationId xmlns:p14="http://schemas.microsoft.com/office/powerpoint/2010/main" val="116068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31978-D4A2-4F6B-E570-2A25FB62F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134" y="640424"/>
            <a:ext cx="9354268" cy="54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06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1405F1-DA94-EE0C-893D-BB3F122D92A3}"/>
              </a:ext>
            </a:extLst>
          </p:cNvPr>
          <p:cNvSpPr txBox="1"/>
          <p:nvPr/>
        </p:nvSpPr>
        <p:spPr>
          <a:xfrm>
            <a:off x="1034321" y="899410"/>
            <a:ext cx="812466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Objective of the Query</a:t>
            </a:r>
          </a:p>
          <a:p>
            <a:r>
              <a:rPr lang="en-US" sz="2000" dirty="0"/>
              <a:t>I am building a cleaned and enriched flight data table using SELECT INTO, combining core flight data (f) with additional airport and airline metadata (a and </a:t>
            </a:r>
            <a:r>
              <a:rPr lang="en-US" sz="2000" dirty="0" err="1"/>
              <a:t>ao</a:t>
            </a:r>
            <a:r>
              <a:rPr lang="en-US" sz="2000" dirty="0"/>
              <a:t>), </a:t>
            </a:r>
          </a:p>
          <a:p>
            <a:r>
              <a:rPr lang="en-US" sz="2000" dirty="0"/>
              <a:t>such </a:t>
            </a:r>
            <a:r>
              <a:rPr lang="en-US" sz="2000" dirty="0" err="1"/>
              <a:t>as:AIRLINE</a:t>
            </a:r>
            <a:r>
              <a:rPr lang="en-US" sz="2000" dirty="0"/>
              <a:t>_</a:t>
            </a:r>
          </a:p>
          <a:p>
            <a:r>
              <a:rPr lang="en-US" sz="2000" dirty="0"/>
              <a:t>NAMEORIGIN</a:t>
            </a:r>
          </a:p>
          <a:p>
            <a:r>
              <a:rPr lang="en-US" sz="2000" dirty="0"/>
              <a:t>_AIRPORT_</a:t>
            </a:r>
          </a:p>
          <a:p>
            <a:r>
              <a:rPr lang="en-US" sz="2000" dirty="0"/>
              <a:t>NAMEORIGIN_</a:t>
            </a:r>
          </a:p>
          <a:p>
            <a:r>
              <a:rPr lang="en-US" sz="2000" dirty="0"/>
              <a:t>CITYORIGIN_</a:t>
            </a:r>
          </a:p>
          <a:p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58978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54886-7261-4CF7-B01D-4807AF92F04A}"/>
              </a:ext>
            </a:extLst>
          </p:cNvPr>
          <p:cNvSpPr txBox="1"/>
          <p:nvPr/>
        </p:nvSpPr>
        <p:spPr>
          <a:xfrm>
            <a:off x="1334125" y="1199213"/>
            <a:ext cx="78248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Key Insights from the Data Preview </a:t>
            </a:r>
          </a:p>
          <a:p>
            <a:r>
              <a:rPr lang="en-US" sz="2000" dirty="0"/>
              <a:t>Column Example	Observations DATE	</a:t>
            </a:r>
          </a:p>
          <a:p>
            <a:r>
              <a:rPr lang="en-US" sz="2000" dirty="0"/>
              <a:t>All rows are from Jan 1, 2015 (Thursday). AIRLINE	Only WN (Southwest) and AA (American Airlines) appear here . SCHEDULED_DEPARTURE	</a:t>
            </a:r>
          </a:p>
          <a:p>
            <a:r>
              <a:rPr lang="en-US" sz="2000" dirty="0"/>
              <a:t>All flights scheduled for 11:50 AM (1150).DEPARTURE_TIME	Actual departure times vary, including delays and NULLs. NULL values in DEPARTURE_TIME	Flights from DFW (Dallas/Fort Worth) have NULL values—likely cancelled or missing actual departure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0F5DF-513F-435F-72E3-A6DCA5319C24}"/>
              </a:ext>
            </a:extLst>
          </p:cNvPr>
          <p:cNvSpPr txBox="1"/>
          <p:nvPr/>
        </p:nvSpPr>
        <p:spPr>
          <a:xfrm>
            <a:off x="749508" y="794479"/>
            <a:ext cx="840948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Operational &amp; Analytical Insights</a:t>
            </a:r>
          </a:p>
          <a:p>
            <a:r>
              <a:rPr lang="en-US" sz="2000" dirty="0"/>
              <a:t> Consistent Scheduled Departure, Varying Actual Times All flights were scheduled to depart at 11:50 AM, but actual departures (DEPARTURE_TIME) show: Early: e.g., 1148Late: e.g., 1201, 1234NULL: indicating cancellation, missing data, or not reported</a:t>
            </a:r>
          </a:p>
          <a:p>
            <a:r>
              <a:rPr lang="en-US" sz="2000" dirty="0"/>
              <a:t> Insight: This enables accurate departure delay calculation : Delay = DEPARTURE_TIME - SCHEDULED_DEPARTURE Cancelled or Missing Flights </a:t>
            </a:r>
          </a:p>
          <a:p>
            <a:r>
              <a:rPr lang="en-US" sz="2000" dirty="0"/>
              <a:t>Flights with DEPARTURE_TIME = NULL likely represent : Cancelled flights (especially common in historical flight data)Incomplete logs</a:t>
            </a:r>
          </a:p>
          <a:p>
            <a:r>
              <a:rPr lang="en-US" sz="2000" dirty="0"/>
              <a:t> Actionable: Use this to compute cancellation rate by airline or airport.</a:t>
            </a:r>
          </a:p>
          <a:p>
            <a:r>
              <a:rPr lang="en-US" sz="2000" dirty="0"/>
              <a:t> Geographic and Airline Enrichment I have added ORIGIN_CITY, ORIGIN_STATE, and full airport/airline names. This prepares your data for: Map visuals vs State-wise or city-wise delay and cancellation patterns Grouping flights by region (e.g., West Coast, Midwest)</a:t>
            </a:r>
          </a:p>
        </p:txBody>
      </p:sp>
    </p:spTree>
    <p:extLst>
      <p:ext uri="{BB962C8B-B14F-4D97-AF65-F5344CB8AC3E}">
        <p14:creationId xmlns:p14="http://schemas.microsoft.com/office/powerpoint/2010/main" val="199313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6A2ED5-7E76-D447-724A-E9FC165FA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75" y="749736"/>
            <a:ext cx="9173980" cy="524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1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630605-A976-62B9-AF68-9BDD8F442088}"/>
              </a:ext>
            </a:extLst>
          </p:cNvPr>
          <p:cNvSpPr txBox="1"/>
          <p:nvPr/>
        </p:nvSpPr>
        <p:spPr>
          <a:xfrm>
            <a:off x="1424066" y="1244184"/>
            <a:ext cx="77349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Key Insights</a:t>
            </a:r>
          </a:p>
          <a:p>
            <a:r>
              <a:rPr lang="en-US" sz="2000" dirty="0"/>
              <a:t>High Volume of Flights With over 1 million flights (1,048,575), this dataset provides a large and representative sample for analyzing flight performance across the U.S. Cancellation Rate is ~3.87%Cancellation Rate = (40,527 / 1,048,575) * 100 ≈ 3.87%Nearly 1 in every 26 flights was cancelled.</a:t>
            </a:r>
          </a:p>
          <a:p>
            <a:r>
              <a:rPr lang="en-US" sz="2000" dirty="0"/>
              <a:t>This is a significant figure and should be explored further:</a:t>
            </a:r>
          </a:p>
          <a:p>
            <a:r>
              <a:rPr lang="en-US" sz="2000" dirty="0"/>
              <a:t>Which airlines had higher cancellation rates?</a:t>
            </a:r>
          </a:p>
          <a:p>
            <a:r>
              <a:rPr lang="en-US" sz="2000" dirty="0"/>
              <a:t>Did weather or airport congestion contribute?</a:t>
            </a:r>
          </a:p>
          <a:p>
            <a:r>
              <a:rPr lang="en-US" sz="2000" dirty="0"/>
              <a:t>Diversion Rate is Low (~0.24%)Diversion Rate = (2,544 / 1,048,575) * 100 ≈ 0.24%Only about 1 in every 412 flights was diverted. Diversions are rare and usually caused by:</a:t>
            </a:r>
          </a:p>
          <a:p>
            <a:r>
              <a:rPr lang="en-US" sz="2000" dirty="0"/>
              <a:t>Weather issues Airport inaccessibility Emergencies</a:t>
            </a:r>
          </a:p>
        </p:txBody>
      </p:sp>
    </p:spTree>
    <p:extLst>
      <p:ext uri="{BB962C8B-B14F-4D97-AF65-F5344CB8AC3E}">
        <p14:creationId xmlns:p14="http://schemas.microsoft.com/office/powerpoint/2010/main" val="3316062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40F46-8ED2-0608-6A30-1707A83A3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666" y="596950"/>
            <a:ext cx="5387442" cy="57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4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4C0D7B-5ED2-C72D-49B6-17A95DB53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489736"/>
              </p:ext>
            </p:extLst>
          </p:nvPr>
        </p:nvGraphicFramePr>
        <p:xfrm>
          <a:off x="1004340" y="854440"/>
          <a:ext cx="9892260" cy="4276360"/>
        </p:xfrm>
        <a:graphic>
          <a:graphicData uri="http://schemas.openxmlformats.org/drawingml/2006/table">
            <a:tbl>
              <a:tblPr/>
              <a:tblGrid>
                <a:gridCol w="3297420">
                  <a:extLst>
                    <a:ext uri="{9D8B030D-6E8A-4147-A177-3AD203B41FA5}">
                      <a16:colId xmlns:a16="http://schemas.microsoft.com/office/drawing/2014/main" val="591032156"/>
                    </a:ext>
                  </a:extLst>
                </a:gridCol>
                <a:gridCol w="3297420">
                  <a:extLst>
                    <a:ext uri="{9D8B030D-6E8A-4147-A177-3AD203B41FA5}">
                      <a16:colId xmlns:a16="http://schemas.microsoft.com/office/drawing/2014/main" val="3516631591"/>
                    </a:ext>
                  </a:extLst>
                </a:gridCol>
                <a:gridCol w="3297420">
                  <a:extLst>
                    <a:ext uri="{9D8B030D-6E8A-4147-A177-3AD203B41FA5}">
                      <a16:colId xmlns:a16="http://schemas.microsoft.com/office/drawing/2014/main" val="3580821576"/>
                    </a:ext>
                  </a:extLst>
                </a:gridCol>
              </a:tblGrid>
              <a:tr h="855272">
                <a:tc>
                  <a:txBody>
                    <a:bodyPr/>
                    <a:lstStyle/>
                    <a:p>
                      <a:r>
                        <a:rPr lang="en-US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Cancelled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145067"/>
                  </a:ext>
                </a:extLst>
              </a:tr>
              <a:tr h="855272">
                <a:tc>
                  <a:txBody>
                    <a:bodyPr/>
                    <a:lstStyle/>
                    <a:p>
                      <a:r>
                        <a:rPr lang="en-US" b="1"/>
                        <a:t>Weather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28,260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31225"/>
                  </a:ext>
                </a:extLst>
              </a:tr>
              <a:tr h="855272">
                <a:tc>
                  <a:txBody>
                    <a:bodyPr/>
                    <a:lstStyle/>
                    <a:p>
                      <a:r>
                        <a:rPr lang="en-US" b="1"/>
                        <a:t>Airline Issue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6,974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71345"/>
                  </a:ext>
                </a:extLst>
              </a:tr>
              <a:tr h="855272">
                <a:tc>
                  <a:txBody>
                    <a:bodyPr/>
                    <a:lstStyle/>
                    <a:p>
                      <a:r>
                        <a:rPr lang="en-US" b="1"/>
                        <a:t>National Air System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5,291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84407"/>
                  </a:ext>
                </a:extLst>
              </a:tr>
              <a:tr h="855272">
                <a:tc>
                  <a:txBody>
                    <a:bodyPr/>
                    <a:lstStyle/>
                    <a:p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21279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B9931BA-83CA-4405-FD5A-18A7C1461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794" y="854440"/>
            <a:ext cx="5285282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Cancellations Breakdown by Reason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7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CC879-5311-C54A-167F-9D4328682B32}"/>
              </a:ext>
            </a:extLst>
          </p:cNvPr>
          <p:cNvSpPr txBox="1"/>
          <p:nvPr/>
        </p:nvSpPr>
        <p:spPr>
          <a:xfrm>
            <a:off x="1214203" y="854439"/>
            <a:ext cx="794478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Weather is the Leading Cause of Cancellations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With </a:t>
            </a:r>
            <a:r>
              <a:rPr lang="en-US" sz="2000" b="1" dirty="0"/>
              <a:t>28,260 flights cancelled</a:t>
            </a:r>
            <a:r>
              <a:rPr lang="en-US" sz="2000" dirty="0"/>
              <a:t>, weather accounts for </a:t>
            </a:r>
            <a:r>
              <a:rPr lang="en-US" sz="2000" b="1" dirty="0"/>
              <a:t>~69.7%</a:t>
            </a:r>
            <a:r>
              <a:rPr lang="en-US" sz="2000" dirty="0"/>
              <a:t> of all recorded cancellations.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This clearly shows the </a:t>
            </a:r>
            <a:r>
              <a:rPr lang="en-US" sz="2000" b="1" dirty="0"/>
              <a:t>significant operational impact of weather</a:t>
            </a:r>
            <a:r>
              <a:rPr lang="en-US" sz="2000" dirty="0"/>
              <a:t>, especially during certain seasons (e.g., winter storms, hurricanes).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 Airline-Related Issues Are the Second Most Common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6,974 cancellations (≈17.2%) were due to internal airline issues such as: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dirty="0"/>
              <a:t>Crew unavailability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dirty="0"/>
              <a:t>Aircraft maintenance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dirty="0"/>
              <a:t>Operational disruptions</a:t>
            </a:r>
          </a:p>
        </p:txBody>
      </p:sp>
    </p:spTree>
    <p:extLst>
      <p:ext uri="{BB962C8B-B14F-4D97-AF65-F5344CB8AC3E}">
        <p14:creationId xmlns:p14="http://schemas.microsoft.com/office/powerpoint/2010/main" val="2866458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B52E8-759B-1ECA-677B-A9596F8C7A00}"/>
              </a:ext>
            </a:extLst>
          </p:cNvPr>
          <p:cNvSpPr txBox="1"/>
          <p:nvPr/>
        </p:nvSpPr>
        <p:spPr>
          <a:xfrm>
            <a:off x="1214203" y="944380"/>
            <a:ext cx="79447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000" dirty="0"/>
              <a:t>National Air System-Related Delays </a:t>
            </a:r>
          </a:p>
          <a:p>
            <a:r>
              <a:rPr lang="en-US" sz="2000" dirty="0"/>
              <a:t>Also Notable5,291 flights (≈13%) were cancelled due to airspace congestion, FAA control issues, or other systemic infrastructure problems.</a:t>
            </a:r>
          </a:p>
          <a:p>
            <a:r>
              <a:rPr lang="en-US" sz="2000" dirty="0"/>
              <a:t> Security-Related Cancellations Are Extremely Rare Only 2 cancellations due to security concerns, indicating high stability and rare serious incidents.</a:t>
            </a:r>
          </a:p>
          <a:p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933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B77BB-931C-ECEB-6335-21C662F16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04" y="854439"/>
            <a:ext cx="10301762" cy="499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41EED2-E2DC-0965-6B69-996BEDA9E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51542"/>
              </p:ext>
            </p:extLst>
          </p:nvPr>
        </p:nvGraphicFramePr>
        <p:xfrm>
          <a:off x="869430" y="539644"/>
          <a:ext cx="10027170" cy="4408276"/>
        </p:xfrm>
        <a:graphic>
          <a:graphicData uri="http://schemas.openxmlformats.org/drawingml/2006/table">
            <a:tbl>
              <a:tblPr/>
              <a:tblGrid>
                <a:gridCol w="5013585">
                  <a:extLst>
                    <a:ext uri="{9D8B030D-6E8A-4147-A177-3AD203B41FA5}">
                      <a16:colId xmlns:a16="http://schemas.microsoft.com/office/drawing/2014/main" val="271790929"/>
                    </a:ext>
                  </a:extLst>
                </a:gridCol>
                <a:gridCol w="5013585">
                  <a:extLst>
                    <a:ext uri="{9D8B030D-6E8A-4147-A177-3AD203B41FA5}">
                      <a16:colId xmlns:a16="http://schemas.microsoft.com/office/drawing/2014/main" val="1279065330"/>
                    </a:ext>
                  </a:extLst>
                </a:gridCol>
              </a:tblGrid>
              <a:tr h="1102069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53407"/>
                  </a:ext>
                </a:extLst>
              </a:tr>
              <a:tr h="1102069">
                <a:tc>
                  <a:txBody>
                    <a:bodyPr/>
                    <a:lstStyle/>
                    <a:p>
                      <a:r>
                        <a:rPr lang="en-US" b="1"/>
                        <a:t>Average Delay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11.33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54800"/>
                  </a:ext>
                </a:extLst>
              </a:tr>
              <a:tr h="1102069">
                <a:tc>
                  <a:txBody>
                    <a:bodyPr/>
                    <a:lstStyle/>
                    <a:p>
                      <a:r>
                        <a:rPr lang="en-US" b="1"/>
                        <a:t>Minimum Delay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-61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13971"/>
                  </a:ext>
                </a:extLst>
              </a:tr>
              <a:tr h="1102069">
                <a:tc>
                  <a:txBody>
                    <a:bodyPr/>
                    <a:lstStyle/>
                    <a:p>
                      <a:r>
                        <a:rPr lang="en-US" b="1"/>
                        <a:t>Maximum Delay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1,908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999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27BC026-F36B-B027-7AE8-CCF916A23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07" y="712089"/>
            <a:ext cx="3567659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Departure Delay Summary Statistics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66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237C36-4915-A2E3-A46F-A3410E979429}"/>
              </a:ext>
            </a:extLst>
          </p:cNvPr>
          <p:cNvSpPr txBox="1"/>
          <p:nvPr/>
        </p:nvSpPr>
        <p:spPr>
          <a:xfrm>
            <a:off x="944380" y="809470"/>
            <a:ext cx="82146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 Average Departure Delay is ~11.3 Minutes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On average, flights are delayed by </a:t>
            </a:r>
            <a:r>
              <a:rPr lang="en-US" sz="2000" b="1" dirty="0"/>
              <a:t>just over 11 minutes</a:t>
            </a:r>
            <a:r>
              <a:rPr lang="en-US" sz="2000" dirty="0"/>
              <a:t> at departure.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This is relatively low and suggests that most flights are operating close to their scheduled time.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Airlines and airports are doing fairly well in terms of </a:t>
            </a:r>
            <a:r>
              <a:rPr lang="en-US" sz="2000" b="1" dirty="0"/>
              <a:t>on-time departure performance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Extreme Delay Detected: 1,908 Minutes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maximum departure delay</a:t>
            </a:r>
            <a:r>
              <a:rPr lang="en-US" sz="2000" dirty="0"/>
              <a:t> is </a:t>
            </a:r>
            <a:r>
              <a:rPr lang="en-US" sz="2000" b="1" dirty="0"/>
              <a:t>1,908 minutes (≈31.8 hours)</a:t>
            </a:r>
            <a:r>
              <a:rPr lang="en-US" sz="2000" dirty="0"/>
              <a:t>, indicating: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dirty="0"/>
              <a:t>A flight was </a:t>
            </a:r>
            <a:r>
              <a:rPr lang="en-US" sz="2000" b="1" dirty="0"/>
              <a:t>heavily disrupted</a:t>
            </a:r>
            <a:r>
              <a:rPr lang="en-US" sz="2000" dirty="0"/>
              <a:t> (possibly due to weather, mechanical issues, or rescheduling).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dirty="0"/>
              <a:t>These outliers should be investigated to understand root causes and avoid recurrence.</a:t>
            </a:r>
          </a:p>
        </p:txBody>
      </p:sp>
    </p:spTree>
    <p:extLst>
      <p:ext uri="{BB962C8B-B14F-4D97-AF65-F5344CB8AC3E}">
        <p14:creationId xmlns:p14="http://schemas.microsoft.com/office/powerpoint/2010/main" val="3326718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39BAB-640E-78BA-484E-3416054765CF}"/>
              </a:ext>
            </a:extLst>
          </p:cNvPr>
          <p:cNvSpPr txBox="1"/>
          <p:nvPr/>
        </p:nvSpPr>
        <p:spPr>
          <a:xfrm>
            <a:off x="959370" y="1004341"/>
            <a:ext cx="81996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Negative Delay: Early Departures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The </a:t>
            </a:r>
            <a:r>
              <a:rPr lang="en-US" sz="2000" b="1" dirty="0"/>
              <a:t>minimum delay is -61 minutes</a:t>
            </a:r>
            <a:r>
              <a:rPr lang="en-US" sz="2000" dirty="0"/>
              <a:t>, meaning a flight departed </a:t>
            </a:r>
            <a:r>
              <a:rPr lang="en-US" sz="2000" b="1" dirty="0"/>
              <a:t>61 minutes earlier</a:t>
            </a:r>
            <a:r>
              <a:rPr lang="en-US" sz="2000" dirty="0"/>
              <a:t> than scheduled.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This is uncommon and could be due to: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000" b="1" dirty="0"/>
              <a:t>Schedule adjustment</a:t>
            </a:r>
            <a:endParaRPr lang="en-US" sz="2000" dirty="0"/>
          </a:p>
          <a:p>
            <a:pPr marL="1143000" lvl="2" indent="-228600">
              <a:buFont typeface="+mj-lt"/>
              <a:buAutoNum type="arabicPeriod"/>
            </a:pPr>
            <a:r>
              <a:rPr lang="en-US" sz="2000" b="1" dirty="0"/>
              <a:t>Data entry error</a:t>
            </a:r>
            <a:endParaRPr lang="en-US" sz="2000" dirty="0"/>
          </a:p>
          <a:p>
            <a:pPr marL="1143000" lvl="2" indent="-228600">
              <a:buFont typeface="+mj-lt"/>
              <a:buAutoNum type="arabicPeriod"/>
            </a:pPr>
            <a:r>
              <a:rPr lang="en-US" sz="2000" b="1" dirty="0"/>
              <a:t>Low airport traffic at the time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Early departures may </a:t>
            </a:r>
            <a:r>
              <a:rPr lang="en-US" sz="2000" b="1" dirty="0"/>
              <a:t>inconvenience passengers</a:t>
            </a:r>
            <a:r>
              <a:rPr lang="en-US" sz="2000" dirty="0"/>
              <a:t> arriving on time and should be minimized.</a:t>
            </a:r>
          </a:p>
        </p:txBody>
      </p:sp>
    </p:spTree>
    <p:extLst>
      <p:ext uri="{BB962C8B-B14F-4D97-AF65-F5344CB8AC3E}">
        <p14:creationId xmlns:p14="http://schemas.microsoft.com/office/powerpoint/2010/main" val="4195068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1BD33-6F80-2E50-0E2B-F5DAA0748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7" y="599608"/>
            <a:ext cx="9998439" cy="507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9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DAC3C-5125-7ABD-A924-738F2DE299D1}"/>
              </a:ext>
            </a:extLst>
          </p:cNvPr>
          <p:cNvSpPr txBox="1"/>
          <p:nvPr/>
        </p:nvSpPr>
        <p:spPr>
          <a:xfrm>
            <a:off x="1094282" y="1019331"/>
            <a:ext cx="80647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Arrival Delay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Average Arrival Delay</a:t>
            </a:r>
            <a:r>
              <a:rPr lang="en-US" sz="2000" dirty="0"/>
              <a:t>: ~7.6 minutes → Most flights arrive close to scheduled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Maximum Delay</a:t>
            </a:r>
            <a:r>
              <a:rPr lang="en-US" sz="2000" dirty="0"/>
              <a:t>: 1,971 minutes (~32.8 hours) → Indicates rare but severe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Minimum Delay</a:t>
            </a:r>
            <a:r>
              <a:rPr lang="en-US" sz="2000" dirty="0"/>
              <a:t>: -82 minutes → Some flights arrived </a:t>
            </a:r>
            <a:r>
              <a:rPr lang="en-US" sz="2000" b="1" dirty="0"/>
              <a:t>over an hour early</a:t>
            </a:r>
            <a:r>
              <a:rPr lang="en-US" sz="2000" dirty="0"/>
              <a:t>, which may disrupt passenger plans or indicate scheduling issues.</a:t>
            </a:r>
          </a:p>
        </p:txBody>
      </p:sp>
    </p:spTree>
    <p:extLst>
      <p:ext uri="{BB962C8B-B14F-4D97-AF65-F5344CB8AC3E}">
        <p14:creationId xmlns:p14="http://schemas.microsoft.com/office/powerpoint/2010/main" val="1596577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28A9B-242A-E1DA-D702-0EC7630FC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9" y="854438"/>
            <a:ext cx="9445374" cy="46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22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F8662-504B-54CD-4E59-50B8822DB71F}"/>
              </a:ext>
            </a:extLst>
          </p:cNvPr>
          <p:cNvSpPr txBox="1"/>
          <p:nvPr/>
        </p:nvSpPr>
        <p:spPr>
          <a:xfrm>
            <a:off x="1543987" y="1274164"/>
            <a:ext cx="7615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Median Delay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Median Departure Delay</a:t>
            </a:r>
            <a:r>
              <a:rPr lang="en-US" dirty="0"/>
              <a:t>: </a:t>
            </a:r>
            <a:r>
              <a:rPr lang="en-US" b="1" dirty="0"/>
              <a:t>-1 minute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Median Arrival Delay</a:t>
            </a:r>
            <a:r>
              <a:rPr lang="en-US" dirty="0"/>
              <a:t>: </a:t>
            </a:r>
            <a:r>
              <a:rPr lang="en-US" b="1" dirty="0"/>
              <a:t>-3 minutes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923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EED05-9B5E-3A16-92C4-570575CBC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48" y="914401"/>
            <a:ext cx="10231354" cy="47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81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98B62-6DA9-552E-8338-DF7238F52372}"/>
              </a:ext>
            </a:extLst>
          </p:cNvPr>
          <p:cNvSpPr txBox="1"/>
          <p:nvPr/>
        </p:nvSpPr>
        <p:spPr>
          <a:xfrm>
            <a:off x="1394085" y="1124262"/>
            <a:ext cx="77798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Top Delay Contributors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Late Aircraft</a:t>
            </a:r>
            <a:r>
              <a:rPr lang="en-US" sz="2000" dirty="0"/>
              <a:t> is the </a:t>
            </a:r>
            <a:r>
              <a:rPr lang="en-US" sz="2000" b="1" dirty="0"/>
              <a:t>biggest cause</a:t>
            </a:r>
            <a:r>
              <a:rPr lang="en-US" sz="2000" dirty="0"/>
              <a:t> of total delays: </a:t>
            </a:r>
            <a:r>
              <a:rPr lang="en-US" sz="2000" b="1" dirty="0"/>
              <a:t>5.2 million minutes</a:t>
            </a:r>
            <a:r>
              <a:rPr lang="en-US" sz="2000" dirty="0"/>
              <a:t>, with an average of </a:t>
            </a:r>
            <a:r>
              <a:rPr lang="en-US" sz="2000" b="1" dirty="0"/>
              <a:t>25 mins per flight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Airline-related delays</a:t>
            </a:r>
            <a:r>
              <a:rPr lang="en-US" sz="2000" dirty="0"/>
              <a:t> come next: </a:t>
            </a:r>
            <a:r>
              <a:rPr lang="en-US" sz="2000" b="1" dirty="0"/>
              <a:t>4.16 million minutes</a:t>
            </a:r>
            <a:r>
              <a:rPr lang="en-US" sz="2000" dirty="0"/>
              <a:t>, averaging </a:t>
            </a:r>
            <a:r>
              <a:rPr lang="en-US" sz="2000" b="1" dirty="0"/>
              <a:t>18 mins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Weather delays</a:t>
            </a:r>
            <a:r>
              <a:rPr lang="en-US" sz="2000" dirty="0"/>
              <a:t> are the </a:t>
            </a:r>
            <a:r>
              <a:rPr lang="en-US" sz="2000" b="1" dirty="0"/>
              <a:t>least impactful</a:t>
            </a:r>
            <a:r>
              <a:rPr lang="en-US" sz="2000" dirty="0"/>
              <a:t> on average: </a:t>
            </a:r>
            <a:r>
              <a:rPr lang="en-US" sz="2000" b="1" dirty="0"/>
              <a:t>3 mins per flight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489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EA4C8-1B8A-9053-1A9B-2169166CE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77" y="1079291"/>
            <a:ext cx="10138377" cy="431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49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10851-F53A-74E6-28F0-45464318A8E4}"/>
              </a:ext>
            </a:extLst>
          </p:cNvPr>
          <p:cNvSpPr txBox="1"/>
          <p:nvPr/>
        </p:nvSpPr>
        <p:spPr>
          <a:xfrm>
            <a:off x="944380" y="929390"/>
            <a:ext cx="82146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On-Time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Total valid flights</a:t>
            </a:r>
            <a:r>
              <a:rPr lang="en-US" sz="2000" dirty="0"/>
              <a:t> (not cancelled or diverted): </a:t>
            </a:r>
            <a:r>
              <a:rPr lang="en-US" sz="2000" b="1" dirty="0"/>
              <a:t>1,005,504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On-time flights</a:t>
            </a:r>
            <a:r>
              <a:rPr lang="en-US" sz="2000" dirty="0"/>
              <a:t> (arrival delay ≤ 15 mins): </a:t>
            </a:r>
            <a:r>
              <a:rPr lang="en-US" sz="2000" b="1" dirty="0"/>
              <a:t>785,087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OTP Rate</a:t>
            </a:r>
            <a:r>
              <a:rPr lang="en-US" sz="2000" dirty="0"/>
              <a:t>: </a:t>
            </a:r>
            <a:r>
              <a:rPr lang="en-US" sz="2000" b="1" dirty="0"/>
              <a:t>78.08%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Conclusion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Nearly </a:t>
            </a:r>
            <a:r>
              <a:rPr lang="en-US" sz="2000" b="1" dirty="0"/>
              <a:t>4 out of 5 flights</a:t>
            </a:r>
            <a:r>
              <a:rPr lang="en-US" sz="2000" dirty="0"/>
              <a:t> arrived on time, indicating strong performance. However, there’s still room to improve punctuality for the remaining </a:t>
            </a:r>
            <a:r>
              <a:rPr lang="en-US" sz="2000" b="1" dirty="0"/>
              <a:t>22%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8073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1B578-1951-0FCD-0925-469C3CF49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31" y="743515"/>
            <a:ext cx="9079352" cy="480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82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5BE73-F4F8-0420-B256-205044342CF5}"/>
              </a:ext>
            </a:extLst>
          </p:cNvPr>
          <p:cNvSpPr txBox="1"/>
          <p:nvPr/>
        </p:nvSpPr>
        <p:spPr>
          <a:xfrm>
            <a:off x="1274164" y="929391"/>
            <a:ext cx="78848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average arrival delay is 7 minutes and the average departure delay is 11 minutes, considering only flights that were not cancelled or diverted.</a:t>
            </a:r>
          </a:p>
          <a:p>
            <a:r>
              <a:rPr lang="en-US" sz="2000" dirty="0"/>
              <a:t>This shows that departure delays are more common than arrival delays, suggesting possible issues in pre-departure operations like boarding, taxiing, or ground handling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0198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22587B-14BC-8873-AC58-3325D9D66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00" y="1469037"/>
            <a:ext cx="10517678" cy="388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39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F1162-D284-FAF1-3D05-0E0A3E15F9F3}"/>
              </a:ext>
            </a:extLst>
          </p:cNvPr>
          <p:cNvSpPr txBox="1"/>
          <p:nvPr/>
        </p:nvSpPr>
        <p:spPr>
          <a:xfrm>
            <a:off x="929390" y="1154243"/>
            <a:ext cx="82296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flight cancellation rate is approximately 2.86%, meaning out of every 100 flights, around 3 flights get cancelled.</a:t>
            </a:r>
          </a:p>
          <a:p>
            <a:r>
              <a:rPr lang="en-US" sz="2000" dirty="0"/>
              <a:t> This low cancellation rate indicates operational stability, but still highlights room for improvement, especially during peak seasons or adverse weather.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98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90B98-F32F-2F44-7200-E2BEF58F4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93" y="644577"/>
            <a:ext cx="10027624" cy="523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19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25AFBD-3A17-4D94-A941-8F0F5CFAF3D5}"/>
              </a:ext>
            </a:extLst>
          </p:cNvPr>
          <p:cNvSpPr txBox="1"/>
          <p:nvPr/>
        </p:nvSpPr>
        <p:spPr>
          <a:xfrm>
            <a:off x="1019331" y="839449"/>
            <a:ext cx="813965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top contributors to total flight delays are:</a:t>
            </a:r>
          </a:p>
          <a:p>
            <a:endParaRPr lang="en-US" sz="2000" dirty="0"/>
          </a:p>
          <a:p>
            <a:r>
              <a:rPr lang="en-US" sz="2000" dirty="0"/>
              <a:t>Late Aircraft Delay – 35.9%</a:t>
            </a:r>
          </a:p>
          <a:p>
            <a:endParaRPr lang="en-US" sz="2000" dirty="0"/>
          </a:p>
          <a:p>
            <a:r>
              <a:rPr lang="en-US" sz="2000" dirty="0"/>
              <a:t>Airline Delay – 32.7%</a:t>
            </a:r>
          </a:p>
          <a:p>
            <a:endParaRPr lang="en-US" sz="2000" dirty="0"/>
          </a:p>
          <a:p>
            <a:r>
              <a:rPr lang="en-US" sz="2000" dirty="0"/>
              <a:t>Air System Delay – 20.9%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These three causes account for nearly 90% of all delays, highlighting the need for better turnaround coordination, airline operations efficiency, and air traffic control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810262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3F1BFA-F90D-0F8C-2371-323C32C18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036" y="642062"/>
            <a:ext cx="8723285" cy="525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36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B8F71E-2B2E-A4F3-C691-37F9F65C4FF4}"/>
              </a:ext>
            </a:extLst>
          </p:cNvPr>
          <p:cNvSpPr txBox="1"/>
          <p:nvPr/>
        </p:nvSpPr>
        <p:spPr>
          <a:xfrm>
            <a:off x="1214204" y="749508"/>
            <a:ext cx="77349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/>
              <a:t>American Eagle Airlines Inc. has the lowest on-time performance (OTP) at 55.3% and highest cancellation rate at 11.7%, indicating poor reliability.</a:t>
            </a:r>
          </a:p>
          <a:p>
            <a:endParaRPr lang="en-US" sz="2000" dirty="0"/>
          </a:p>
          <a:p>
            <a:r>
              <a:rPr lang="en-US" sz="2000" dirty="0"/>
              <a:t>Delta Air Lines Inc. stands out with high OTP (91.7%), low delays, and low cancellation rate (0.2%), making it the most reliable airline in this dataset.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These insights help identify top-performing vs. underperforming airlines for operational improvement and better passenger experience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684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CAD98E-4C4B-71F6-0A1F-36BA66546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67" y="1019331"/>
            <a:ext cx="9985782" cy="458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4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556007-94AE-A991-1CCC-738E884C7ADE}"/>
              </a:ext>
            </a:extLst>
          </p:cNvPr>
          <p:cNvSpPr txBox="1"/>
          <p:nvPr/>
        </p:nvSpPr>
        <p:spPr>
          <a:xfrm>
            <a:off x="1199213" y="794479"/>
            <a:ext cx="80647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highest cancellation rate (13.6%) is seen on flights from Hartsfield–Jackson Atlanta to Dallas/Fort Worth, indicating a problematic route.</a:t>
            </a:r>
          </a:p>
          <a:p>
            <a:endParaRPr lang="en-US" sz="2000" dirty="0"/>
          </a:p>
          <a:p>
            <a:r>
              <a:rPr lang="en-US" sz="2000" dirty="0"/>
              <a:t>Routes like Chicago to Cincinnati and Houston to Honolulu show zero cancellations with low delays, suggesting high reliability.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These insights help identify trouble routes and highlight efficient airport pairs for better route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104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0B60DF-B07F-6AE5-6701-7EB55AC62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14" y="944380"/>
            <a:ext cx="9539587" cy="445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4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81624-8387-DDA9-BF46-0DC806471512}"/>
              </a:ext>
            </a:extLst>
          </p:cNvPr>
          <p:cNvSpPr txBox="1"/>
          <p:nvPr/>
        </p:nvSpPr>
        <p:spPr>
          <a:xfrm>
            <a:off x="1124262" y="929390"/>
            <a:ext cx="803472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March had the highest number of flights but also highest delays (11 mins) and lowest on-time performance (70%).</a:t>
            </a:r>
          </a:p>
          <a:p>
            <a:endParaRPr lang="en-US" sz="2000" dirty="0"/>
          </a:p>
          <a:p>
            <a:r>
              <a:rPr lang="en-US" sz="2000" dirty="0"/>
              <a:t>January performed best with lowest delays (7.5 mins) and highest OTP (77.5%).</a:t>
            </a:r>
          </a:p>
          <a:p>
            <a:endParaRPr lang="en-US" sz="2000" dirty="0"/>
          </a:p>
          <a:p>
            <a:r>
              <a:rPr lang="en-US" sz="2000" dirty="0"/>
              <a:t> This indicates that flight punctuality drops as volume increases, highlighting the need for better scheduling in peak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768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317381-7E17-3826-94F4-3128DC3B8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60" y="1139252"/>
            <a:ext cx="10715203" cy="42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300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F0F56-D268-89BC-0E7F-7413C61905FD}"/>
              </a:ext>
            </a:extLst>
          </p:cNvPr>
          <p:cNvSpPr txBox="1"/>
          <p:nvPr/>
        </p:nvSpPr>
        <p:spPr>
          <a:xfrm>
            <a:off x="1708879" y="1004342"/>
            <a:ext cx="7450111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Tuesday (Day 2) has the best on-time performance (OTP: 74.1%) and lowest cancellation rate (2.57%).</a:t>
            </a:r>
          </a:p>
          <a:p>
            <a:endParaRPr lang="en-US" sz="2000" dirty="0"/>
          </a:p>
          <a:p>
            <a:r>
              <a:rPr lang="en-US" sz="2000" dirty="0"/>
              <a:t>Sunday (Day 7) shows the highest average delay (10 mins) and a slightly higher cancellation rate (4%).</a:t>
            </a:r>
          </a:p>
          <a:p>
            <a:endParaRPr lang="en-US" sz="2000" dirty="0"/>
          </a:p>
          <a:p>
            <a:r>
              <a:rPr lang="en-US" sz="2000" dirty="0"/>
              <a:t> Flights are most reliable midweek (especially Tuesday) and least punctual on weekends, suggesting weekend congestion or staffing issues.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870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436FA-DC5B-B1C2-F1F9-FDFFB2618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69" y="521372"/>
            <a:ext cx="8268399" cy="549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65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BFA773-0E58-3894-5725-04D7D2310C70}"/>
              </a:ext>
            </a:extLst>
          </p:cNvPr>
          <p:cNvSpPr txBox="1"/>
          <p:nvPr/>
        </p:nvSpPr>
        <p:spPr>
          <a:xfrm>
            <a:off x="1064302" y="843677"/>
            <a:ext cx="806470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Flights departing early morning (1 AM) have the highest on-time performance (85%) and lowest delays (1 min).</a:t>
            </a:r>
          </a:p>
          <a:p>
            <a:endParaRPr lang="en-US" sz="2000" dirty="0"/>
          </a:p>
          <a:p>
            <a:r>
              <a:rPr lang="en-US" sz="2000" dirty="0"/>
              <a:t>Evening flights (6–7 PM) show lower OTP (73–74%) and higher delays (up to 14 mins).</a:t>
            </a:r>
          </a:p>
          <a:p>
            <a:endParaRPr lang="en-US" sz="2000" dirty="0"/>
          </a:p>
          <a:p>
            <a:r>
              <a:rPr lang="en-US" sz="2000" dirty="0"/>
              <a:t> Early departures are more punctual, while evening flights face more delays, likely due to accumulated delays throughout the 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449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9712A-6D88-B1EA-1808-378DD5585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703" y="639862"/>
            <a:ext cx="7808750" cy="528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58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5A3606-9CE2-86D6-D232-C9AA333A6572}"/>
              </a:ext>
            </a:extLst>
          </p:cNvPr>
          <p:cNvSpPr txBox="1"/>
          <p:nvPr/>
        </p:nvSpPr>
        <p:spPr>
          <a:xfrm>
            <a:off x="1049311" y="1034322"/>
            <a:ext cx="810967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0 AM flights have the highest on-time rate (85%) with lowest delay (1 min) — most punctual.</a:t>
            </a:r>
          </a:p>
          <a:p>
            <a:r>
              <a:rPr lang="en-US" sz="2000" dirty="0"/>
              <a:t>3 AM flights show lowest OTP (67%) and highest delay (18 mins) — least reliable.</a:t>
            </a:r>
          </a:p>
          <a:p>
            <a:r>
              <a:rPr lang="en-US" sz="2000" dirty="0"/>
              <a:t>Midnight flights are most reliable, while early morning (3 AM) flights face maximum delays.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303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</TotalTime>
  <Words>1828</Words>
  <Application>Microsoft Office PowerPoint</Application>
  <PresentationFormat>Widescreen</PresentationFormat>
  <Paragraphs>178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Garamond</vt:lpstr>
      <vt:lpstr>Organic</vt:lpstr>
      <vt:lpstr>FLY_EMIRATES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kamini Chandra</dc:creator>
  <cp:lastModifiedBy>kamini Chandra</cp:lastModifiedBy>
  <cp:revision>1</cp:revision>
  <dcterms:created xsi:type="dcterms:W3CDTF">2025-07-30T13:45:53Z</dcterms:created>
  <dcterms:modified xsi:type="dcterms:W3CDTF">2025-07-30T15:00:46Z</dcterms:modified>
</cp:coreProperties>
</file>