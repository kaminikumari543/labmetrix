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ni Chandra" userId="a2bf2d2ec3681811" providerId="LiveId" clId="{640A192D-3530-42A6-B2A2-1DF11407E436}"/>
    <pc:docChg chg="modSld">
      <pc:chgData name="kamini Chandra" userId="a2bf2d2ec3681811" providerId="LiveId" clId="{640A192D-3530-42A6-B2A2-1DF11407E436}" dt="2025-07-20T16:05:53.245" v="0"/>
      <pc:docMkLst>
        <pc:docMk/>
      </pc:docMkLst>
      <pc:sldChg chg="modSp">
        <pc:chgData name="kamini Chandra" userId="a2bf2d2ec3681811" providerId="LiveId" clId="{640A192D-3530-42A6-B2A2-1DF11407E436}" dt="2025-07-20T16:05:53.245" v="0"/>
        <pc:sldMkLst>
          <pc:docMk/>
          <pc:sldMk cId="821767863" sldId="256"/>
        </pc:sldMkLst>
        <pc:spChg chg="mod">
          <ac:chgData name="kamini Chandra" userId="a2bf2d2ec3681811" providerId="LiveId" clId="{640A192D-3530-42A6-B2A2-1DF11407E436}" dt="2025-07-20T16:05:53.245" v="0"/>
          <ac:spMkLst>
            <pc:docMk/>
            <pc:sldMk cId="821767863" sldId="256"/>
            <ac:spMk id="2" creationId="{8BB6F94E-6633-0A2B-37AF-97177E6796DE}"/>
          </ac:spMkLst>
        </pc:spChg>
        <pc:spChg chg="mod">
          <ac:chgData name="kamini Chandra" userId="a2bf2d2ec3681811" providerId="LiveId" clId="{640A192D-3530-42A6-B2A2-1DF11407E436}" dt="2025-07-20T16:05:53.245" v="0"/>
          <ac:spMkLst>
            <pc:docMk/>
            <pc:sldMk cId="821767863" sldId="256"/>
            <ac:spMk id="3" creationId="{526A2EDB-E9F4-AAA2-6716-3A885B5FD3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9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1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2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7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16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7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8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1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8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7379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37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9159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5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4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16097-6604-45E8-A348-1548485431A3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14BC2FE-B8C2-4638-9352-1D42FA638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5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F94E-6633-0A2B-37AF-97177E679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BikeDekho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A2EDB-E9F4-AAA2-6716-3A885B5FD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4A882-B7A0-630F-B31F-45F378C20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68" y="1259174"/>
            <a:ext cx="9917829" cy="401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65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3E868C-FD3D-B5E1-2967-1FE1E80E1B3A}"/>
              </a:ext>
            </a:extLst>
          </p:cNvPr>
          <p:cNvSpPr txBox="1"/>
          <p:nvPr/>
        </p:nvSpPr>
        <p:spPr>
          <a:xfrm>
            <a:off x="1708879" y="719528"/>
            <a:ext cx="743137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Overall Income by </a:t>
            </a:r>
            <a:r>
              <a:rPr lang="en-US" sz="2000" dirty="0" err="1"/>
              <a:t>Gender:Males</a:t>
            </a:r>
            <a:r>
              <a:rPr lang="en-US" sz="2000" dirty="0"/>
              <a:t> have a significantly higher average income (₹58,063) than females (₹54,581).</a:t>
            </a:r>
          </a:p>
          <a:p>
            <a:r>
              <a:rPr lang="en-US" sz="2000" dirty="0"/>
              <a:t>Impact of Bike Purchase on </a:t>
            </a:r>
            <a:r>
              <a:rPr lang="en-US" sz="2000" dirty="0" err="1"/>
              <a:t>Income:For</a:t>
            </a:r>
            <a:r>
              <a:rPr lang="en-US" sz="2000" dirty="0"/>
              <a:t> both genders, those who purchased a bike have higher average income than those who did not:</a:t>
            </a:r>
          </a:p>
          <a:p>
            <a:r>
              <a:rPr lang="en-US" sz="2000" b="1" dirty="0"/>
              <a:t>Females</a:t>
            </a:r>
            <a:r>
              <a:rPr lang="en-US" sz="2000" dirty="0"/>
              <a:t>:</a:t>
            </a:r>
          </a:p>
          <a:p>
            <a:r>
              <a:rPr lang="en-US" sz="2000" dirty="0"/>
              <a:t>Purchased: ₹55,774Did not purchase: ₹53,440</a:t>
            </a:r>
          </a:p>
          <a:p>
            <a:r>
              <a:rPr lang="en-US" sz="2000" dirty="0"/>
              <a:t> Difference: ₹2,334</a:t>
            </a:r>
          </a:p>
          <a:p>
            <a:r>
              <a:rPr lang="en-US" sz="2000" b="1" dirty="0"/>
              <a:t>Males</a:t>
            </a:r>
            <a:r>
              <a:rPr lang="en-US" sz="2000" dirty="0"/>
              <a:t>:</a:t>
            </a:r>
          </a:p>
          <a:p>
            <a:r>
              <a:rPr lang="en-US" sz="2000" dirty="0"/>
              <a:t>Purchased: ₹60,124</a:t>
            </a:r>
          </a:p>
          <a:p>
            <a:r>
              <a:rPr lang="en-US" sz="2000" dirty="0"/>
              <a:t>Did not purchase: ₹56,208</a:t>
            </a:r>
          </a:p>
          <a:p>
            <a:r>
              <a:rPr lang="en-US" sz="2000" dirty="0"/>
              <a:t> Difference: ₹3,916</a:t>
            </a:r>
          </a:p>
          <a:p>
            <a:r>
              <a:rPr lang="en-US" b="1" dirty="0"/>
              <a:t>Gender-wise Gap Among Buyers</a:t>
            </a:r>
            <a:r>
              <a:rPr lang="en-US" dirty="0"/>
              <a:t>:</a:t>
            </a:r>
          </a:p>
          <a:p>
            <a:r>
              <a:rPr lang="en-US" sz="2000" dirty="0"/>
              <a:t>Among those who purchased a bike:</a:t>
            </a:r>
          </a:p>
          <a:p>
            <a:pPr lvl="1"/>
            <a:r>
              <a:rPr lang="en-US" sz="2000" dirty="0"/>
              <a:t>Males (₹60,124) earn more than females (₹55,774) — a gap of ₹4,350.</a:t>
            </a:r>
          </a:p>
          <a:p>
            <a:r>
              <a:rPr lang="en-US" sz="2000" dirty="0"/>
              <a:t>This suggests a </a:t>
            </a:r>
            <a:r>
              <a:rPr lang="en-US" sz="2000" b="1" dirty="0"/>
              <a:t>gender income gap persists even among bike purchasers</a:t>
            </a:r>
            <a:r>
              <a:rPr lang="en-US" sz="2000" dirty="0"/>
              <a:t>.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/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538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D48940-A237-179F-FD8C-72FA7C654DEE}"/>
              </a:ext>
            </a:extLst>
          </p:cNvPr>
          <p:cNvSpPr txBox="1"/>
          <p:nvPr/>
        </p:nvSpPr>
        <p:spPr>
          <a:xfrm>
            <a:off x="764498" y="509667"/>
            <a:ext cx="866056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General Observation: Higher income is positively associated with the likelihood of purchasing a bike.</a:t>
            </a:r>
          </a:p>
          <a:p>
            <a:r>
              <a:rPr lang="en-US" sz="2000" dirty="0"/>
              <a:t>The pattern is consistent across both genders, indicating income plays a key role in purchasing decisions</a:t>
            </a:r>
            <a:r>
              <a:rPr lang="en-US" dirty="0"/>
              <a:t>.</a:t>
            </a:r>
          </a:p>
          <a:p>
            <a:r>
              <a:rPr lang="en-US" sz="2000" b="1" dirty="0"/>
              <a:t>Business Interpretation:</a:t>
            </a:r>
          </a:p>
          <a:p>
            <a:r>
              <a:rPr lang="en-US" sz="2000" b="1" dirty="0"/>
              <a:t>Marketing strategies</a:t>
            </a:r>
            <a:r>
              <a:rPr lang="en-US" sz="2000" dirty="0"/>
              <a:t> for high-end bikes could target </a:t>
            </a:r>
            <a:r>
              <a:rPr lang="en-US" sz="2000" b="1" dirty="0"/>
              <a:t>higher-income segments</a:t>
            </a:r>
            <a:r>
              <a:rPr lang="en-US" sz="2000" dirty="0"/>
              <a:t>, especially </a:t>
            </a:r>
            <a:r>
              <a:rPr lang="en-US" sz="2000" b="1" dirty="0"/>
              <a:t>males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Income-based segmentation</a:t>
            </a:r>
            <a:r>
              <a:rPr lang="en-US" sz="2000" dirty="0"/>
              <a:t> can be effective in tailoring promotions.</a:t>
            </a:r>
          </a:p>
          <a:p>
            <a:r>
              <a:rPr lang="en-US" sz="2000" b="1" dirty="0"/>
              <a:t>Gender-focused outreach</a:t>
            </a:r>
            <a:r>
              <a:rPr lang="en-US" sz="2000" dirty="0"/>
              <a:t> may help address disparity and increase conversion among </a:t>
            </a:r>
            <a:r>
              <a:rPr lang="en-US" sz="2000" b="1" dirty="0"/>
              <a:t>female customers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6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93EC5-1368-CAD4-61B3-F2EF6CDF2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0" y="1663907"/>
            <a:ext cx="11569277" cy="34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1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7E5FF-6E05-626E-A020-9F5E20244A13}"/>
              </a:ext>
            </a:extLst>
          </p:cNvPr>
          <p:cNvSpPr txBox="1"/>
          <p:nvPr/>
        </p:nvSpPr>
        <p:spPr>
          <a:xfrm>
            <a:off x="854439" y="494675"/>
            <a:ext cx="82858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Key Insights:1. Customers with Very Short Commutes (0–1 Miles)</a:t>
            </a:r>
          </a:p>
          <a:p>
            <a:r>
              <a:rPr lang="en-US" sz="2000" dirty="0"/>
              <a:t>Highest number of total customers: 366More people purchased a bike (200) than didn’t (166)</a:t>
            </a:r>
          </a:p>
          <a:p>
            <a:r>
              <a:rPr lang="en-US" sz="2000" dirty="0"/>
              <a:t> Insight: People living very close to work may prefer bikes for short, quick rides—convenience seems to drive purchases</a:t>
            </a:r>
            <a:r>
              <a:rPr lang="en-US" dirty="0"/>
              <a:t>.</a:t>
            </a:r>
          </a:p>
          <a:p>
            <a:r>
              <a:rPr lang="en-US" sz="2000" b="1" dirty="0"/>
              <a:t>Long Commutes (10+ Miles):</a:t>
            </a:r>
          </a:p>
          <a:p>
            <a:r>
              <a:rPr lang="en-US" sz="2000" dirty="0"/>
              <a:t>Least likely to purchase a bike: only </a:t>
            </a:r>
            <a:r>
              <a:rPr lang="en-US" sz="2000" b="1" dirty="0"/>
              <a:t>33 buyers</a:t>
            </a:r>
            <a:r>
              <a:rPr lang="en-US" sz="2000" dirty="0"/>
              <a:t> out of 111</a:t>
            </a:r>
          </a:p>
          <a:p>
            <a:r>
              <a:rPr lang="en-US" sz="2000" dirty="0"/>
              <a:t>Majority did </a:t>
            </a:r>
            <a:r>
              <a:rPr lang="en-US" sz="2000" b="1" dirty="0"/>
              <a:t>not</a:t>
            </a:r>
            <a:r>
              <a:rPr lang="en-US" sz="2000" dirty="0"/>
              <a:t> purchase a bike (78)</a:t>
            </a:r>
          </a:p>
          <a:p>
            <a:r>
              <a:rPr lang="en-US" sz="2000" dirty="0"/>
              <a:t> </a:t>
            </a:r>
            <a:r>
              <a:rPr lang="en-US" sz="2000" b="1" dirty="0"/>
              <a:t>Insight</a:t>
            </a:r>
            <a:r>
              <a:rPr lang="en-US" sz="2000" dirty="0"/>
              <a:t>: Customers with long commutes may find bikes impractical for distance or may prefer other transport (e.g., public transport or cars).</a:t>
            </a:r>
          </a:p>
          <a:p>
            <a:r>
              <a:rPr lang="en-US" sz="2000" b="1" dirty="0"/>
              <a:t>Moderate Commute Ranges (1–5 Miles):</a:t>
            </a:r>
          </a:p>
          <a:p>
            <a:r>
              <a:rPr lang="en-US" sz="2000" b="1" dirty="0"/>
              <a:t>Balanced behavior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1–2 Miles: 92 (No), 77 (Yes) → slightly more non-buyers</a:t>
            </a:r>
          </a:p>
          <a:p>
            <a:pPr lvl="1"/>
            <a:r>
              <a:rPr lang="en-US" sz="2000" dirty="0"/>
              <a:t>2–5 Miles: 67 (No), 95 (Yes) → more buyers than non-buyers</a:t>
            </a:r>
          </a:p>
          <a:p>
            <a:r>
              <a:rPr lang="en-US" sz="2000" dirty="0"/>
              <a:t> </a:t>
            </a:r>
            <a:r>
              <a:rPr lang="en-US" sz="2000" b="1" dirty="0"/>
              <a:t>Insight</a:t>
            </a:r>
            <a:r>
              <a:rPr lang="en-US" sz="2000" dirty="0"/>
              <a:t>: For these ranges, bike purchase becomes more appealing and practical. Especially for 2–5 miles, </a:t>
            </a:r>
            <a:r>
              <a:rPr lang="en-US" sz="2000" b="1" dirty="0"/>
              <a:t>more people are buying bikes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693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EF23F9-A693-3E84-4910-022A456A36C6}"/>
              </a:ext>
            </a:extLst>
          </p:cNvPr>
          <p:cNvSpPr txBox="1"/>
          <p:nvPr/>
        </p:nvSpPr>
        <p:spPr>
          <a:xfrm>
            <a:off x="524656" y="584616"/>
            <a:ext cx="861559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 Commute Distance of 5–10 </a:t>
            </a:r>
            <a:r>
              <a:rPr lang="en-US" sz="2000" dirty="0" err="1"/>
              <a:t>Miles:Reverse</a:t>
            </a:r>
            <a:r>
              <a:rPr lang="en-US" sz="2000" dirty="0"/>
              <a:t> trend: More people did not purchase bikes (116) than those who did (76) </a:t>
            </a:r>
          </a:p>
          <a:p>
            <a:r>
              <a:rPr lang="en-US" sz="2000" dirty="0"/>
              <a:t>Insight: As commute distance increases beyond 5 miles, the likelihood of buying a bike decreases again.</a:t>
            </a:r>
          </a:p>
          <a:p>
            <a:r>
              <a:rPr lang="en-US" sz="2000" b="1" dirty="0"/>
              <a:t>Overall Pattern:</a:t>
            </a:r>
          </a:p>
          <a:p>
            <a:r>
              <a:rPr lang="en-US" sz="2000" dirty="0"/>
              <a:t>There is a </a:t>
            </a:r>
            <a:r>
              <a:rPr lang="en-US" sz="2000" b="1" dirty="0"/>
              <a:t>U-shaped relationship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High bike purchase</a:t>
            </a:r>
            <a:r>
              <a:rPr lang="en-US" sz="2000" dirty="0"/>
              <a:t> at </a:t>
            </a:r>
            <a:r>
              <a:rPr lang="en-US" sz="2000" b="1" dirty="0"/>
              <a:t>very short</a:t>
            </a:r>
            <a:r>
              <a:rPr lang="en-US" sz="2000" dirty="0"/>
              <a:t> (0–1 miles) and </a:t>
            </a:r>
            <a:r>
              <a:rPr lang="en-US" sz="2000" b="1" dirty="0"/>
              <a:t>moderate distances</a:t>
            </a:r>
            <a:r>
              <a:rPr lang="en-US" sz="2000" dirty="0"/>
              <a:t> (2–5 miles)</a:t>
            </a:r>
          </a:p>
          <a:p>
            <a:pPr lvl="1"/>
            <a:r>
              <a:rPr lang="en-US" sz="2000" b="1" dirty="0"/>
              <a:t>Lower bike purchase</a:t>
            </a:r>
            <a:r>
              <a:rPr lang="en-US" sz="2000" dirty="0"/>
              <a:t> at </a:t>
            </a:r>
            <a:r>
              <a:rPr lang="en-US" sz="2000" b="1" dirty="0"/>
              <a:t>very long</a:t>
            </a:r>
            <a:r>
              <a:rPr lang="en-US" sz="2000" dirty="0"/>
              <a:t> (10+ miles) and </a:t>
            </a:r>
            <a:r>
              <a:rPr lang="en-US" sz="2000" b="1" dirty="0"/>
              <a:t>some mid-range distances</a:t>
            </a:r>
            <a:r>
              <a:rPr lang="en-US" sz="2000" dirty="0"/>
              <a:t> (5–10 miles)</a:t>
            </a:r>
          </a:p>
          <a:p>
            <a:r>
              <a:rPr lang="en-US" sz="2000" b="1" dirty="0"/>
              <a:t>Business Interpretation:</a:t>
            </a:r>
          </a:p>
          <a:p>
            <a:r>
              <a:rPr lang="en-US" sz="2000" dirty="0"/>
              <a:t>Target </a:t>
            </a:r>
            <a:r>
              <a:rPr lang="en-US" sz="2000" b="1" dirty="0"/>
              <a:t>bike marketing</a:t>
            </a:r>
            <a:r>
              <a:rPr lang="en-US" sz="2000" dirty="0"/>
              <a:t> toward:</a:t>
            </a:r>
          </a:p>
          <a:p>
            <a:pPr lvl="1"/>
            <a:r>
              <a:rPr lang="en-US" sz="2000" dirty="0"/>
              <a:t>Customers commuting </a:t>
            </a:r>
            <a:r>
              <a:rPr lang="en-US" sz="2000" b="1" dirty="0"/>
              <a:t>under 1 mile</a:t>
            </a:r>
            <a:r>
              <a:rPr lang="en-US" sz="2000" dirty="0"/>
              <a:t> (for convenience)</a:t>
            </a:r>
          </a:p>
          <a:p>
            <a:pPr lvl="1"/>
            <a:r>
              <a:rPr lang="en-US" sz="2000" dirty="0"/>
              <a:t>And </a:t>
            </a:r>
            <a:r>
              <a:rPr lang="en-US" sz="2000" b="1" dirty="0"/>
              <a:t>2–5 miles</a:t>
            </a:r>
            <a:r>
              <a:rPr lang="en-US" sz="2000" dirty="0"/>
              <a:t> (for practicality)</a:t>
            </a:r>
          </a:p>
          <a:p>
            <a:r>
              <a:rPr lang="en-US" sz="2000" dirty="0"/>
              <a:t>Avoid spending heavily on customers with </a:t>
            </a:r>
            <a:r>
              <a:rPr lang="en-US" sz="2000" b="1" dirty="0"/>
              <a:t>10+ miles commutes</a:t>
            </a:r>
            <a:r>
              <a:rPr lang="en-US" sz="2000" dirty="0"/>
              <a:t>, as they are </a:t>
            </a:r>
            <a:r>
              <a:rPr lang="en-US" sz="2000" b="1" dirty="0"/>
              <a:t>least likely to buy</a:t>
            </a:r>
            <a:r>
              <a:rPr lang="en-US" sz="2000" dirty="0"/>
              <a:t>.</a:t>
            </a:r>
          </a:p>
          <a:p>
            <a:r>
              <a:rPr lang="en-US" sz="2000" dirty="0"/>
              <a:t>Consider offering </a:t>
            </a:r>
            <a:r>
              <a:rPr lang="en-US" sz="2000" b="1" dirty="0"/>
              <a:t>electric bikes or other solutions</a:t>
            </a:r>
            <a:r>
              <a:rPr lang="en-US" sz="2000" dirty="0"/>
              <a:t> for the 5–10 miles and 10+ miles groups.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474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D54889-B425-F40E-B997-BA6C607AD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60" y="1633928"/>
            <a:ext cx="11588657" cy="348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05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3CC237-8FEB-7F18-E1A4-F8B2ED8FF8AA}"/>
              </a:ext>
            </a:extLst>
          </p:cNvPr>
          <p:cNvSpPr txBox="1"/>
          <p:nvPr/>
        </p:nvSpPr>
        <p:spPr>
          <a:xfrm>
            <a:off x="449705" y="434716"/>
            <a:ext cx="869054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Key Insights:</a:t>
            </a:r>
          </a:p>
          <a:p>
            <a:pPr marL="457200" indent="-457200">
              <a:buAutoNum type="arabicPeriod"/>
            </a:pPr>
            <a:r>
              <a:rPr lang="en-US" sz="2000" dirty="0"/>
              <a:t>Middle-Aged Customers (most active segment)</a:t>
            </a:r>
          </a:p>
          <a:p>
            <a:pPr marL="457200" indent="-457200">
              <a:buAutoNum type="arabicPeriod"/>
            </a:pPr>
            <a:r>
              <a:rPr lang="en-US" sz="2000" dirty="0"/>
              <a:t>Largest group overall: 700 customers</a:t>
            </a:r>
          </a:p>
          <a:p>
            <a:pPr marL="457200" indent="-457200">
              <a:buAutoNum type="arabicPeriod"/>
            </a:pPr>
            <a:r>
              <a:rPr lang="en-US" sz="2000" dirty="0"/>
              <a:t>Majority purchased bikes: 382 (Yes) vs 318 (No)</a:t>
            </a:r>
          </a:p>
          <a:p>
            <a:pPr marL="457200" indent="-457200">
              <a:buAutoNum type="arabicPeriod"/>
            </a:pPr>
            <a:r>
              <a:rPr lang="en-US" sz="2000" dirty="0"/>
              <a:t> Insight: Middle-aged customers are the most engaged segment and show the highest conversion rate for bike purchases.</a:t>
            </a:r>
          </a:p>
          <a:p>
            <a:pPr marL="457200" indent="-457200">
              <a:buAutoNum type="arabicPeriod"/>
            </a:pPr>
            <a:r>
              <a:rPr lang="en-US" sz="2000" dirty="0"/>
              <a:t>Likely due to financial stability, regular commuting needs, or lifestyle convenience.</a:t>
            </a:r>
          </a:p>
          <a:p>
            <a:r>
              <a:rPr lang="en-US" sz="2000" b="1" dirty="0"/>
              <a:t>Adolescents:</a:t>
            </a:r>
          </a:p>
          <a:p>
            <a:r>
              <a:rPr lang="en-US" sz="2000" dirty="0"/>
              <a:t>Total: 110 customers</a:t>
            </a:r>
          </a:p>
          <a:p>
            <a:r>
              <a:rPr lang="en-US" sz="2000" dirty="0"/>
              <a:t>Fewer purchases: </a:t>
            </a:r>
            <a:r>
              <a:rPr lang="en-US" sz="2000" b="1" dirty="0"/>
              <a:t>Only 39 purchased</a:t>
            </a:r>
            <a:r>
              <a:rPr lang="en-US" sz="2000" dirty="0"/>
              <a:t>, 71 did not</a:t>
            </a:r>
          </a:p>
          <a:p>
            <a:r>
              <a:rPr lang="en-US" sz="2000" b="1" dirty="0"/>
              <a:t>Insight</a:t>
            </a:r>
            <a:r>
              <a:rPr lang="en-US" sz="2000" dirty="0"/>
              <a:t>: </a:t>
            </a:r>
            <a:r>
              <a:rPr lang="en-US" sz="2000" b="1" dirty="0"/>
              <a:t>Low conversion rate</a:t>
            </a:r>
            <a:r>
              <a:rPr lang="en-US" sz="2000" dirty="0"/>
              <a:t> — possibly due to:</a:t>
            </a:r>
          </a:p>
          <a:p>
            <a:pPr lvl="1"/>
            <a:r>
              <a:rPr lang="en-US" sz="2000" dirty="0"/>
              <a:t>Dependence on parents</a:t>
            </a:r>
          </a:p>
          <a:p>
            <a:pPr lvl="1"/>
            <a:r>
              <a:rPr lang="en-US" sz="2000" dirty="0"/>
              <a:t>Lack of income</a:t>
            </a:r>
          </a:p>
          <a:p>
            <a:pPr lvl="1"/>
            <a:r>
              <a:rPr lang="en-US" sz="2000" dirty="0"/>
              <a:t>Preference for public transport or other interests</a:t>
            </a:r>
          </a:p>
          <a:p>
            <a:pPr lvl="1"/>
            <a:endParaRPr lang="en-US" sz="2000" dirty="0"/>
          </a:p>
          <a:p>
            <a:pPr marL="457200" indent="-457200"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45684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CE7281-91A9-1D43-9D12-0C6C661B6330}"/>
              </a:ext>
            </a:extLst>
          </p:cNvPr>
          <p:cNvSpPr txBox="1"/>
          <p:nvPr/>
        </p:nvSpPr>
        <p:spPr>
          <a:xfrm>
            <a:off x="764498" y="704538"/>
            <a:ext cx="837575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000" dirty="0"/>
              <a:t>Older Adults:</a:t>
            </a:r>
          </a:p>
          <a:p>
            <a:r>
              <a:rPr lang="en-US" sz="2000" dirty="0"/>
              <a:t>Total: 189 customers</a:t>
            </a:r>
          </a:p>
          <a:p>
            <a:r>
              <a:rPr lang="en-US" sz="2000" dirty="0"/>
              <a:t>Also lower purchases: 59 (Yes), 130 (No)</a:t>
            </a:r>
          </a:p>
          <a:p>
            <a:r>
              <a:rPr lang="en-US" sz="2000" dirty="0"/>
              <a:t> Insight: Older adults are less likely to purchase bikes, possibly due to</a:t>
            </a:r>
          </a:p>
          <a:p>
            <a:r>
              <a:rPr lang="en-US" sz="2000" dirty="0"/>
              <a:t>Reduced mobility Less need for daily commuting Preference for comfort over convenience</a:t>
            </a:r>
          </a:p>
          <a:p>
            <a:r>
              <a:rPr lang="en-US" sz="2000" b="1" dirty="0"/>
              <a:t>Overall Trend:</a:t>
            </a:r>
          </a:p>
          <a:p>
            <a:r>
              <a:rPr lang="en-US" sz="2000" b="1" dirty="0"/>
              <a:t>Middle-aged group dominates both in size and in bike purchases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Adolescents and older adults</a:t>
            </a:r>
            <a:r>
              <a:rPr lang="en-US" sz="2000" dirty="0"/>
              <a:t> show relatively </a:t>
            </a:r>
            <a:r>
              <a:rPr lang="en-US" sz="2000" b="1" dirty="0"/>
              <a:t>low purchasing behavior</a:t>
            </a:r>
            <a:r>
              <a:rPr lang="en-US" sz="2000" dirty="0"/>
              <a:t>.</a:t>
            </a:r>
          </a:p>
          <a:p>
            <a:r>
              <a:rPr lang="en-US" sz="2000" dirty="0"/>
              <a:t>The chart reflects a </a:t>
            </a:r>
            <a:r>
              <a:rPr lang="en-US" sz="2000" b="1" dirty="0"/>
              <a:t>peak in purchase activity during middle age</a:t>
            </a:r>
            <a:r>
              <a:rPr lang="en-US" sz="2000" dirty="0"/>
              <a:t>, forming a </a:t>
            </a:r>
            <a:r>
              <a:rPr lang="en-US" sz="2000" b="1" dirty="0"/>
              <a:t>bell-shaped pattern</a:t>
            </a:r>
            <a:r>
              <a:rPr lang="en-US" sz="2000" dirty="0"/>
              <a:t>.</a:t>
            </a:r>
          </a:p>
          <a:p>
            <a:r>
              <a:rPr lang="en-US" sz="2000" b="1" dirty="0"/>
              <a:t>Business Interpretation:</a:t>
            </a:r>
          </a:p>
          <a:p>
            <a:r>
              <a:rPr lang="en-US" sz="2000" dirty="0"/>
              <a:t>Focus marketing and sales efforts on the </a:t>
            </a:r>
            <a:r>
              <a:rPr lang="en-US" sz="2000" b="1" dirty="0"/>
              <a:t>middle-aged demographic</a:t>
            </a:r>
            <a:r>
              <a:rPr lang="en-US" sz="2000" dirty="0"/>
              <a:t>, especially urban professionals and daily commuters.</a:t>
            </a:r>
          </a:p>
          <a:p>
            <a:r>
              <a:rPr lang="en-US" sz="2000" dirty="0"/>
              <a:t>For adolescents:</a:t>
            </a:r>
          </a:p>
          <a:p>
            <a:pPr lvl="1"/>
            <a:r>
              <a:rPr lang="en-US" sz="2000" dirty="0"/>
              <a:t>Consider marketing </a:t>
            </a:r>
            <a:r>
              <a:rPr lang="en-US" sz="2000" b="1" dirty="0"/>
              <a:t>low-cost bikes</a:t>
            </a:r>
            <a:r>
              <a:rPr lang="en-US" sz="2000" dirty="0"/>
              <a:t> or </a:t>
            </a:r>
            <a:r>
              <a:rPr lang="en-US" sz="2000" b="1" dirty="0"/>
              <a:t>family bundle offers</a:t>
            </a:r>
            <a:r>
              <a:rPr lang="en-US" sz="2000" dirty="0"/>
              <a:t> (targeting parents).</a:t>
            </a:r>
          </a:p>
          <a:p>
            <a:r>
              <a:rPr lang="en-US" sz="2000" dirty="0"/>
              <a:t>For older customers:</a:t>
            </a:r>
          </a:p>
          <a:p>
            <a:pPr lvl="1"/>
            <a:r>
              <a:rPr lang="en-US" sz="2000" dirty="0"/>
              <a:t>Explore </a:t>
            </a:r>
            <a:r>
              <a:rPr lang="en-US" sz="2000" b="1" dirty="0"/>
              <a:t>comfort-oriented bikes</a:t>
            </a:r>
            <a:r>
              <a:rPr lang="en-US" sz="2000" dirty="0"/>
              <a:t> or </a:t>
            </a:r>
            <a:r>
              <a:rPr lang="en-US" sz="2000" b="1" dirty="0"/>
              <a:t>e-bikes</a:t>
            </a:r>
            <a:r>
              <a:rPr lang="en-US" sz="2000" dirty="0"/>
              <a:t> for leisure rather than commuting.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4117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3A0E2-5369-68EE-7D06-4F64AF4C9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7" y="1184222"/>
            <a:ext cx="12149662" cy="452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7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47986-BA53-3AFD-5A52-7AAF22136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9194"/>
            <a:ext cx="12189497" cy="439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982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770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BikeDekho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kamini Chandra</dc:creator>
  <cp:lastModifiedBy>kamini Chandra</cp:lastModifiedBy>
  <cp:revision>1</cp:revision>
  <dcterms:created xsi:type="dcterms:W3CDTF">2025-07-20T16:04:50Z</dcterms:created>
  <dcterms:modified xsi:type="dcterms:W3CDTF">2025-07-20T16:06:52Z</dcterms:modified>
</cp:coreProperties>
</file>